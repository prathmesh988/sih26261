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97" r:id="rId3"/>
    <p:sldId id="281" r:id="rId4"/>
    <p:sldId id="290" r:id="rId5"/>
    <p:sldId id="293" r:id="rId6"/>
    <p:sldId id="294" r:id="rId7"/>
    <p:sldId id="296" r:id="rId8"/>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snapToObjects="1">
      <p:cViewPr varScale="1">
        <p:scale>
          <a:sx n="120" d="100"/>
          <a:sy n="120" d="100"/>
        </p:scale>
        <p:origin x="120" y="414"/>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10/28/2026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3</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4</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10/28/2026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10/28/2026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10/28/2026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10/28/2026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a:p>
          <a:p>
            <a:r>
              <a:rPr lang="en-IN" altLang="en-US" sz="3200" b="1"/>
              <a:t>AI-Assisted Application Validation &amp; Compliance Screening</a:t>
            </a: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11680"/>
            <a:ext cx="6675120" cy="3023905"/>
          </a:xfrm>
          <a:prstGeom prst="rect">
            <a:avLst/>
          </a:prstGeom>
          <a:noFill/>
        </p:spPr>
        <p:txBody>
          <a:bodyPr wrap="square" rtlCol="0">
            <a:spAutoFit/>
          </a:bodyPr>
          <a:lstStyle/>
          <a:p>
            <a:r>
              <a:rPr lang="en-IN" sz="1800" b="1" dirty="0"/>
              <a:t>Problem Statement ID  SIH26261</a:t>
            </a:r>
          </a:p>
          <a:p>
            <a:r>
              <a:rPr lang="en-IN" sz="1600" b="1" dirty="0"/>
              <a:t>Problem Statement Title  AI-Powered Application Validation, Document Authentication and Regulatory Compliance Verification</a:t>
            </a:r>
          </a:p>
          <a:p>
            <a:r>
              <a:rPr lang="en-IN" sz="1600" b="1" dirty="0"/>
              <a:t>Theme  [CONFIRM FROM SIH PORTAL]
PS Category  Software</a:t>
            </a:r>
          </a:p>
          <a:p>
            <a:r>
              <a:rPr lang="en-IN" sz="1600" b="1" dirty="0"/>
              <a:t>Team ID  [INSERT TEAM ID]</a:t>
            </a:r>
          </a:p>
          <a:p>
            <a:r>
              <a:rPr lang="en-IN" sz="1600" b="1" dirty="0"/>
              <a:t>Team Name  Conquerors</a:t>
            </a:r>
          </a:p>
          <a:p>
            <a:r>
              <a:rPr lang="en-IN" sz="1800" b="1" dirty="0"/>
              <a:t>Idea Title  AI-Assisted Application Validation &amp; Compliance Screening for AICTE Approvals</a:t>
            </a:r>
          </a:p>
          <a:p>
            <a:r>
              <a:rPr lang="en-IN" sz="1350" b="0" dirty="0"/>
              <a:t>A first-pass screening layer that reads application documents, cross-checks them against institutional records and flags deficiencies with evidence</a:t>
            </a:r>
          </a:p>
          <a:p>
            <a:r>
              <a:rPr lang="en-IN" sz="1350" b="0" dirty="0"/>
              <a:t>so AICTE officials review only the cases that need attention. AI assists, officials decide.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329773" y="62564"/>
            <a:ext cx="10972800" cy="1143000"/>
          </a:xfrm>
        </p:spPr>
        <p:txBody>
          <a:bodyPr wrap="square"/>
          <a:lstStyle/>
          <a:p>
            <a:r>
              <a:rPr lang="en-IN" sz="3600" b="1" dirty="0"/>
              <a:t>PROBLEM STATEMENT</a:t>
            </a:r>
          </a:p>
        </p:txBody>
      </p:sp>
      <p:sp>
        <p:nvSpPr>
          <p:cNvPr id="15362" name="TextBox 8"/>
          <p:cNvSpPr txBox="1">
            <a:spLocks noChangeArrowheads="1"/>
          </p:cNvSpPr>
          <p:nvPr/>
        </p:nvSpPr>
        <p:spPr bwMode="auto">
          <a:xfrm>
            <a:off x="576072" y="1342086"/>
            <a:ext cx="10972800" cy="3816429"/>
          </a:xfrm>
          <a:prstGeom prst="rect">
            <a:avLst/>
          </a:prstGeom>
          <a:noFill/>
          <a:ln w="9525">
            <a:noFill/>
            <a:miter lim="800000"/>
            <a:headEnd/>
            <a:tailEnd/>
          </a:ln>
        </p:spPr>
        <p:txBody>
          <a:bodyPr wrap="square">
            <a:spAutoFit/>
          </a:bodyPr>
          <a:lstStyle/>
          <a:p>
            <a:r>
              <a:rPr lang="en-IN" sz="1400" b="0" dirty="0"/>
              <a:t>Problem Statement Title   AI-Powered Application Validation, Document Authentication and Regulatory Compliance Verification</a:t>
            </a:r>
          </a:p>
          <a:p>
            <a:endParaRPr lang="en-IN" sz="1400" dirty="0"/>
          </a:p>
          <a:p>
            <a:r>
              <a:rPr lang="en-IN" sz="1400" b="1" dirty="0"/>
              <a:t>The Real Problem, Broken Down </a:t>
            </a:r>
          </a:p>
          <a:p>
            <a:r>
              <a:rPr lang="en-IN" sz="1400" b="1" dirty="0"/>
              <a:t>1.  Missing, incomplete or expired documents.</a:t>
            </a:r>
            <a:r>
              <a:rPr lang="en-IN" sz="1400" b="0" dirty="0"/>
              <a:t>  Affidavits, NOCs and certificates may be absent or past validity, and each gap has to be found by manual scrutiny.</a:t>
            </a:r>
          </a:p>
          <a:p>
            <a:r>
              <a:rPr lang="en-IN" sz="1400" b="1" dirty="0"/>
              <a:t>2.  Inconsistent information across records.</a:t>
            </a:r>
            <a:r>
              <a:rPr lang="en-IN" sz="1400" b="0" dirty="0"/>
              <a:t>  Names, certificate IDs, dates or claimed intake may not match other documents or the institution's previous approval record.</a:t>
            </a:r>
          </a:p>
          <a:p>
            <a:r>
              <a:rPr lang="en-IN" sz="1400" b="1" dirty="0"/>
              <a:t>3.  Possible alteration or duplication.</a:t>
            </a:r>
            <a:r>
              <a:rPr lang="en-IN" sz="1400" b="0" dirty="0"/>
              <a:t>  Altered dates, duplicated documents, inconsistent metadata and mismatched identifiers are hard to spot by eye. They are preliminary signs that need human verification, not proof of misconduct.</a:t>
            </a:r>
          </a:p>
          <a:p>
            <a:r>
              <a:rPr lang="en-IN" sz="1400" b="1" dirty="0"/>
              <a:t>4.  Slow confirmation from issuing authorities.</a:t>
            </a:r>
            <a:r>
              <a:rPr lang="en-IN" sz="1400" b="0" dirty="0"/>
              <a:t>  Verifying a certificate with its original issuer is time consuming, which delays processing and adds administrative effort.</a:t>
            </a:r>
          </a:p>
          <a:p>
            <a:endParaRPr lang="en-IN" sz="1400" dirty="0"/>
          </a:p>
          <a:p>
            <a:r>
              <a:rPr lang="en-IN" sz="1400" b="1" dirty="0"/>
              <a:t>Why It Matters (from the brief) </a:t>
            </a:r>
          </a:p>
          <a:p>
            <a:r>
              <a:rPr lang="en-IN" sz="1400" b="0" dirty="0"/>
              <a:t>•  The volume and variety of applications and supporting documents makes manual checking time consuming.</a:t>
            </a:r>
          </a:p>
          <a:p>
            <a:r>
              <a:rPr lang="en-IN" sz="1400" b="0" dirty="0"/>
              <a:t>•  Evidence spans affidavits, NOCs, accreditation details, previous EoA and approval status, approved intake, faculty records, deficiency status and TER payment status.</a:t>
            </a:r>
          </a:p>
          <a:p>
            <a:r>
              <a:rPr lang="en-IN" sz="1400" b="0" dirty="0"/>
              <a:t>•  AI output must stay decision support  statutory scrutiny, inspections and final decisions remain with the competent AICTE authorities.</a:t>
            </a:r>
          </a:p>
        </p:txBody>
      </p:sp>
      <p:sp>
        <p:nvSpPr>
          <p:cNvPr id="6" name="Slide Number Placeholder 5"/>
          <p:cNvSpPr>
            <a:spLocks noGrp="1"/>
          </p:cNvSpPr>
          <p:nvPr>
            <p:ph type="sldNum" sz="quarter" idx="12"/>
          </p:nvPr>
        </p:nvSpPr>
        <p:spPr/>
        <p:txBody>
          <a:bodyPr wrap="square"/>
          <a:lstStyle/>
          <a:p>
            <a:r>
              <a:rPr lang="en-IN" sz="1000"/>
              <a:t>2</a:t>
            </a: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dirty="0">
                <a:solidFill>
                  <a:schemeClr val="bg1"/>
                </a:solidFill>
              </a:rPr>
              <a:t>@SIH Idea submission</a:t>
            </a: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rtlCol="0" anchor="ctr"/>
          <a:lstStyle/>
          <a:p>
            <a:r>
              <a:rPr lang="en-IN" altLang="en-US" sz="800" b="1" dirty="0"/>
              <a:t>Conquerors</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FF3E251A-76CA-E159-F7A4-25DBE2D4B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4742" y="-73958"/>
            <a:ext cx="2249850" cy="1062337"/>
          </a:xfrm>
          <a:prstGeom prst="rect">
            <a:avLst/>
          </a:prstGeom>
        </p:spPr>
      </p:pic>
      <p:sp>
        <p:nvSpPr>
          <p:cNvPr id="4" name="TextBox 3">
            <a:extLst>
              <a:ext uri="{FF2B5EF4-FFF2-40B4-BE49-F238E27FC236}">
                <a16:creationId xmlns:a16="http://schemas.microsoft.com/office/drawing/2014/main" id="{069ACD17-DE7A-CAA5-44D4-4611C770936F}"/>
              </a:ext>
            </a:extLst>
          </p:cNvPr>
          <p:cNvSpPr txBox="1"/>
          <p:nvPr/>
        </p:nvSpPr>
        <p:spPr>
          <a:xfrm>
            <a:off x="2057400" y="5568696"/>
            <a:ext cx="8010144" cy="584775"/>
          </a:xfrm>
          <a:prstGeom prst="rect">
            <a:avLst/>
          </a:prstGeom>
          <a:noFill/>
        </p:spPr>
        <p:txBody>
          <a:bodyPr wrap="square" rtlCol="0">
            <a:spAutoFit/>
          </a:bodyPr>
          <a:lstStyle/>
          <a:p>
            <a:r>
              <a:rPr lang="en-IN" sz="1600" b="0" dirty="0"/>
              <a:t>“The bottleneck is not the officer</a:t>
            </a:r>
            <a:r>
              <a:rPr lang="en-IN" sz="1600" dirty="0"/>
              <a:t>’</a:t>
            </a:r>
            <a:r>
              <a:rPr lang="en-IN" sz="1600" b="0" dirty="0"/>
              <a:t>s judgement. It is the first-pass checking that comes before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18872" y="-29546"/>
            <a:ext cx="10972800" cy="1143000"/>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err="1"/>
              <a:t>PROPOSED SOLUTION</a:t>
            </a:r>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15362" name="TextBox 8"/>
          <p:cNvSpPr txBox="1">
            <a:spLocks noChangeArrowheads="1"/>
          </p:cNvSpPr>
          <p:nvPr/>
        </p:nvSpPr>
        <p:spPr bwMode="auto">
          <a:xfrm>
            <a:off x="221070" y="1395246"/>
            <a:ext cx="3520440" cy="2429331"/>
          </a:xfrm>
          <a:prstGeom prst="rect">
            <a:avLst/>
          </a:prstGeom>
          <a:noFill/>
          <a:ln w="9525">
            <a:noFill/>
            <a:miter lim="800000"/>
            <a:headEnd/>
            <a:tailEnd/>
          </a:ln>
        </p:spPr>
        <p:txBody>
          <a:bodyPr lIns="50800" rIns="50800"/>
          <a:lstStyle/>
          <a:p>
            <a:r>
              <a:rPr lang="en-IN" sz="1500" b="1" dirty="0"/>
              <a:t>Proposed Solution  First-Pass Screening Layer</a:t>
            </a:r>
          </a:p>
          <a:p>
            <a:r>
              <a:rPr lang="en-IN" sz="1350" b="1" dirty="0"/>
              <a:t>Decision support for officials  it flags, it never decides</a:t>
            </a:r>
          </a:p>
          <a:p>
            <a:endParaRPr lang="en-IN" sz="800" dirty="0"/>
          </a:p>
          <a:p>
            <a:r>
              <a:rPr lang="en-IN" sz="1050" b="0" dirty="0"/>
              <a:t>A screening layer in front of AICTE officers  it reads each application’s documents, checks them against the category checklist and institutional records, and flags deficiencies with evidence. It never approves or rejects. Final decisions stay with AICTE.</a:t>
            </a:r>
          </a:p>
        </p:txBody>
      </p:sp>
      <p:sp>
        <p:nvSpPr>
          <p:cNvPr id="6" name="Slide Number Placeholder 5"/>
          <p:cNvSpPr>
            <a:spLocks noGrp="1"/>
          </p:cNvSpPr>
          <p:nvPr>
            <p:ph type="sldNum" sz="quarter" idx="12"/>
          </p:nvPr>
        </p:nvSpPr>
        <p:spPr/>
        <p:txBody>
          <a:bodyPr wrap="square"/>
          <a:lstStyle/>
          <a:p>
            <a:r>
              <a:rPr lang="en-IN" sz="1000"/>
              <a:t>4</a:t>
            </a: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dirty="0">
                <a:solidFill>
                  <a:schemeClr val="bg1"/>
                </a:solidFill>
              </a:rPr>
              <a:t>@SIH Idea submission</a:t>
            </a: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rtlCol="0" anchor="ctr"/>
          <a:lstStyle/>
          <a:p>
            <a:r>
              <a:rPr lang="en-IN" altLang="en-US" sz="800" b="1" dirty="0"/>
              <a:t>Conquerors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5CB66AB9-992C-6045-480B-A3061FFFA0EF}"/>
              </a:ext>
            </a:extLst>
          </p:cNvPr>
          <p:cNvSpPr txBox="1"/>
          <p:nvPr/>
        </p:nvSpPr>
        <p:spPr>
          <a:xfrm>
            <a:off x="4434840" y="1522467"/>
            <a:ext cx="7178040" cy="7900405"/>
          </a:xfrm>
          <a:prstGeom prst="rect">
            <a:avLst/>
          </a:prstGeom>
          <a:noFill/>
        </p:spPr>
        <p:txBody>
          <a:bodyPr lIns="101600" rIns="101600"/>
          <a:lstStyle/>
          <a:p>
            <a:r>
              <a:rPr lang="en-IN" sz="1300" b="1" dirty="0"/>
              <a:t>TIER 1 — Built for This Submission</a:t>
            </a:r>
          </a:p>
          <a:p>
            <a:r>
              <a:rPr lang="en-IN" sz="1000" b="0" dirty="0"/>
              <a:t>✔  Smart document intelligence — OCR and vision-LLM classification and field extraction (names, certificate numbers, issue and expiry dates)</a:t>
            </a:r>
          </a:p>
          <a:p>
            <a:r>
              <a:rPr lang="en-IN" sz="1000" b="0" dirty="0"/>
              <a:t>✔  Completeness and validity checks — configurable checklists by application category flag missing documents and expired certificates</a:t>
            </a:r>
          </a:p>
          <a:p>
            <a:r>
              <a:rPr lang="en-IN" sz="1000" b="0" dirty="0"/>
              <a:t>✔  Cross-document contradiction detector — value found, value expected, source document and discrepancy side by side, including claimed vs previously approved intake</a:t>
            </a:r>
          </a:p>
          <a:p>
            <a:r>
              <a:rPr lang="en-IN" sz="1000" b="0" dirty="0"/>
              <a:t>✔  Metadata anomaly flags — creation date after issue date, edited after signing, duplicate documents; each labelled a preliminary indicator</a:t>
            </a:r>
          </a:p>
          <a:p>
            <a:r>
              <a:rPr lang="en-IN" sz="1000" b="0" dirty="0"/>
              <a:t>✔  Review-priority queue — rule-based high / medium / low with the reason shown officers review, resolve or dismiss flags</a:t>
            </a:r>
          </a:p>
          <a:p>
            <a:r>
              <a:rPr lang="en-IN" sz="1000" b="0" dirty="0"/>
              <a:t>✔  Validation dashboard and audit trail — status, deficiencies and open flags per application append-only log of rules run and officer actions</a:t>
            </a:r>
          </a:p>
          <a:p>
            <a:r>
              <a:rPr lang="en-IN" sz="1000" b="0" dirty="0"/>
              <a:t>✔  Role-based access — officer, senior officer and admin roles</a:t>
            </a:r>
          </a:p>
          <a:p>
            <a:endParaRPr lang="en-IN" sz="700" dirty="0"/>
          </a:p>
          <a:p>
            <a:r>
              <a:rPr lang="en-IN" sz="1300" b="1" dirty="0"/>
              <a:t>TIER 2 — Simulated or Scoped Down (Designed In, Not Fully Built)</a:t>
            </a:r>
          </a:p>
          <a:p>
            <a:r>
              <a:rPr lang="en-IN" sz="1000" b="0" dirty="0"/>
              <a:t>◎  Issuing-authority verification — simulated  a mock verify action with seeded responses and status chips (verified, mismatch, expired, pending, source unavailable, manual review) plus timestamps designed for authorised APIs, quick-response codes and digital signatures</a:t>
            </a:r>
          </a:p>
          <a:p>
            <a:r>
              <a:rPr lang="en-IN" sz="1000" b="0" dirty="0"/>
              <a:t>◎  Infrastructure compliance assistance — scoped down to light vision-LLM observations on uploaded photographs trained computer-vision floor-plan analysis is out of scope</a:t>
            </a:r>
          </a:p>
          <a:p>
            <a:r>
              <a:rPr lang="en-IN" sz="1000" b="0" dirty="0"/>
              <a:t>◎  Portal and records integration — designed for integration with the AICTE application portal demonstrated against seeded synthetic institutional records</a:t>
            </a:r>
          </a:p>
          <a:p>
            <a:endParaRPr lang="en-IN" sz="700" dirty="0"/>
          </a:p>
          <a:p>
            <a:r>
              <a:rPr lang="en-IN" sz="1000" b="0" dirty="0"/>
              <a:t>Every simulated component is labelled as simulated. All AI findings are explainable, evidence-linked decision-support outputs. Final regulatory decisions remain with the competent AICTE authorities.</a:t>
            </a:r>
          </a:p>
        </p:txBody>
      </p:sp>
      <p:sp>
        <p:nvSpPr>
          <p:cNvPr id="3" name="TextBox 2">
            <a:extLst>
              <a:ext uri="{FF2B5EF4-FFF2-40B4-BE49-F238E27FC236}">
                <a16:creationId xmlns:a16="http://schemas.microsoft.com/office/drawing/2014/main" id="{C0A9C93A-CEB7-97D2-6444-BA2BCC4ECF20}"/>
              </a:ext>
            </a:extLst>
          </p:cNvPr>
          <p:cNvSpPr txBox="1"/>
          <p:nvPr/>
        </p:nvSpPr>
        <p:spPr>
          <a:xfrm>
            <a:off x="142241" y="3793790"/>
            <a:ext cx="3520440" cy="4031873"/>
          </a:xfrm>
          <a:prstGeom prst="rect">
            <a:avLst/>
          </a:prstGeom>
          <a:noFill/>
        </p:spPr>
        <p:txBody>
          <a:bodyPr lIns="50800" rIns="50800"/>
          <a:lstStyle/>
          <a:p>
            <a:r>
              <a:rPr lang="en-IN" sz="1400" b="1" dirty="0"/>
              <a:t>Design Approach &amp; Differentiators</a:t>
            </a:r>
          </a:p>
          <a:p>
            <a:r>
              <a:rPr lang="en-IN" sz="1000" b="0" dirty="0"/>
              <a:t>•  Evidence-linked by design  every flag shows the field, value found, value expected and source document</a:t>
            </a:r>
          </a:p>
          <a:p>
            <a:r>
              <a:rPr lang="en-IN" sz="1000" b="0" dirty="0"/>
              <a:t>•  Human in the loop  flags are preliminary indicators the system never auto approves or rejects</a:t>
            </a:r>
          </a:p>
          <a:p>
            <a:r>
              <a:rPr lang="en-IN" sz="1000" b="0" dirty="0"/>
              <a:t>•  Explainable review priority  a rule-based high / medium / low queue with the reason shown, not an opaque risk score</a:t>
            </a:r>
          </a:p>
          <a:p>
            <a:r>
              <a:rPr lang="en-IN" sz="1000" b="0" dirty="0"/>
              <a:t>•  Configurable, not hard-coded  checklists and rules are editable per application category</a:t>
            </a:r>
          </a:p>
          <a:p>
            <a:r>
              <a:rPr lang="en-IN" sz="1000" b="0" dirty="0"/>
              <a:t>•  Traceable  append-only audit trail of rules applied, records checked, source responses and officer actions</a:t>
            </a:r>
          </a:p>
          <a:p>
            <a:r>
              <a:rPr lang="en-IN" sz="1000" b="0" dirty="0"/>
              <a:t>•  Honest scope  simulated parts are labelled; demonstrated on synthetic or anonymised data as the brief requires</a:t>
            </a:r>
          </a:p>
        </p:txBody>
      </p:sp>
      <p:sp>
        <p:nvSpPr>
          <p:cNvPr id="4" name="Rectangle 3">
            <a:extLst>
              <a:ext uri="{FF2B5EF4-FFF2-40B4-BE49-F238E27FC236}">
                <a16:creationId xmlns:a16="http://schemas.microsoft.com/office/drawing/2014/main" id="{BD052297-272F-CD6D-D371-ACBB0DABC450}"/>
              </a:ext>
            </a:extLst>
          </p:cNvPr>
          <p:cNvSpPr/>
          <p:nvPr/>
        </p:nvSpPr>
        <p:spPr>
          <a:xfrm>
            <a:off x="118872" y="1374498"/>
            <a:ext cx="3757595" cy="2215267"/>
          </a:xfrm>
          <a:prstGeom prst="rect">
            <a:avLst/>
          </a:prstGeom>
          <a:no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DF6F73A-9033-DF13-7DC5-C7F1B05DC9FA}"/>
              </a:ext>
            </a:extLst>
          </p:cNvPr>
          <p:cNvPicPr>
            <a:picLocks noChangeAspect="1"/>
          </p:cNvPicPr>
          <p:nvPr/>
        </p:nvPicPr>
        <p:blipFill>
          <a:blip r:embed="rId4"/>
          <a:stretch>
            <a:fillRect/>
          </a:stretch>
        </p:blipFill>
        <p:spPr>
          <a:xfrm>
            <a:off x="71166" y="3720917"/>
            <a:ext cx="3853006" cy="2584024"/>
          </a:xfrm>
          <a:prstGeom prst="rect">
            <a:avLst/>
          </a:prstGeom>
        </p:spPr>
      </p:pic>
      <p:pic>
        <p:nvPicPr>
          <p:cNvPr id="13" name="Picture 12">
            <a:extLst>
              <a:ext uri="{FF2B5EF4-FFF2-40B4-BE49-F238E27FC236}">
                <a16:creationId xmlns:a16="http://schemas.microsoft.com/office/drawing/2014/main" id="{0F327CEC-B9DC-E5BF-6746-4DCE5346860A}"/>
              </a:ext>
            </a:extLst>
          </p:cNvPr>
          <p:cNvPicPr>
            <a:picLocks noChangeAspect="1"/>
          </p:cNvPicPr>
          <p:nvPr/>
        </p:nvPicPr>
        <p:blipFill>
          <a:blip r:embed="rId4"/>
          <a:stretch>
            <a:fillRect/>
          </a:stretch>
        </p:blipFill>
        <p:spPr>
          <a:xfrm>
            <a:off x="4136479" y="1407919"/>
            <a:ext cx="7774761" cy="49306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457200" y="1280160"/>
            <a:ext cx="5394960" cy="1615827"/>
          </a:xfrm>
          <a:prstGeom prst="rect">
            <a:avLst/>
          </a:prstGeom>
          <a:noFill/>
          <a:ln w="9525">
            <a:noFill/>
            <a:miter lim="800000"/>
            <a:headEnd/>
            <a:tailEnd/>
          </a:ln>
        </p:spPr>
        <p:txBody>
          <a:bodyPr wrap="square">
            <a:spAutoFit/>
          </a:bodyPr>
          <a:lstStyle/>
          <a:p>
            <a:r>
              <a:rPr lang="en-IN" sz="1500" b="1" dirty="0"/>
              <a:t>Technologies Used</a:t>
            </a:r>
          </a:p>
          <a:p>
            <a:r>
              <a:rPr lang="en-IN" sz="1200" b="0" dirty="0"/>
              <a:t>•  Frontend   Next.js / React (officer dashboard, evidence view)</a:t>
            </a:r>
          </a:p>
          <a:p>
            <a:r>
              <a:rPr lang="en-IN" sz="1200" b="0" dirty="0"/>
              <a:t>•  Backend    Express.js + TypeScript (pipeline, rules engine, audit log)</a:t>
            </a:r>
          </a:p>
          <a:p>
            <a:r>
              <a:rPr lang="en-IN" sz="1200" b="0" dirty="0"/>
              <a:t>•  Database   PostgreSQL (applications, documents, flags, audit log)</a:t>
            </a:r>
          </a:p>
          <a:p>
            <a:r>
              <a:rPr lang="en-IN" sz="1200" b="0" dirty="0"/>
              <a:t>•  AI / OCR   Vision-capable LLM API (Claude or GPT)  classify, extract, cross-check</a:t>
            </a:r>
          </a:p>
          <a:p>
            <a:r>
              <a:rPr lang="en-IN" sz="1200" b="0" dirty="0"/>
              <a:t>•  Metadata   PDF / image metadata libraries (e.g. pdf-lib, exiftool)</a:t>
            </a:r>
          </a:p>
          <a:p>
            <a:r>
              <a:rPr lang="en-IN" sz="1200" b="0" dirty="0"/>
              <a:t>•  Verification   Mock issuing-authority service (simulated)</a:t>
            </a:r>
          </a:p>
          <a:p>
            <a:r>
              <a:rPr lang="en-IN" sz="1200" b="0" dirty="0"/>
              <a:t>•  Deployment  Render or AWS (backend) / Vercel (frontend), Docker for CI/CD</a:t>
            </a:r>
          </a:p>
        </p:txBody>
      </p:sp>
      <p:sp>
        <p:nvSpPr>
          <p:cNvPr id="6" name="Slide Number Placeholder 5"/>
          <p:cNvSpPr>
            <a:spLocks noGrp="1"/>
          </p:cNvSpPr>
          <p:nvPr>
            <p:ph type="sldNum" sz="quarter" idx="12"/>
          </p:nvPr>
        </p:nvSpPr>
        <p:spPr/>
        <p:txBody>
          <a:bodyPr wrap="square"/>
          <a:lstStyle/>
          <a:p>
            <a:r>
              <a:rPr lang="en-IN" sz="1000"/>
              <a:t>5</a:t>
            </a: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dirty="0">
                <a:solidFill>
                  <a:schemeClr val="bg1"/>
                </a:solidFill>
              </a:rPr>
              <a:t>@SIH Idea submission</a:t>
            </a: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rtlCol="0" anchor="ctr"/>
          <a:lstStyle/>
          <a:p>
            <a:r>
              <a:rPr lang="en-IN" altLang="en-US" sz="800" b="1" dirty="0"/>
              <a:t>Conquerors</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FDF83D64-499E-7113-F11A-49D3CCC15C63}"/>
              </a:ext>
            </a:extLst>
          </p:cNvPr>
          <p:cNvPicPr>
            <a:picLocks noChangeAspect="1"/>
          </p:cNvPicPr>
          <p:nvPr/>
        </p:nvPicPr>
        <p:blipFill>
          <a:blip r:embed="rId4"/>
          <a:stretch>
            <a:fillRect/>
          </a:stretch>
        </p:blipFill>
        <p:spPr>
          <a:xfrm>
            <a:off x="594360" y="3383280"/>
            <a:ext cx="777240" cy="777240"/>
          </a:xfrm>
          <a:prstGeom prst="rect">
            <a:avLst/>
          </a:prstGeom>
        </p:spPr>
      </p:pic>
      <p:pic>
        <p:nvPicPr>
          <p:cNvPr id="5" name="Picture 4">
            <a:extLst>
              <a:ext uri="{FF2B5EF4-FFF2-40B4-BE49-F238E27FC236}">
                <a16:creationId xmlns:a16="http://schemas.microsoft.com/office/drawing/2014/main" id="{AA0D4856-EEDA-77B8-7211-A4589A1601EA}"/>
              </a:ext>
            </a:extLst>
          </p:cNvPr>
          <p:cNvPicPr>
            <a:picLocks noChangeAspect="1"/>
          </p:cNvPicPr>
          <p:nvPr/>
        </p:nvPicPr>
        <p:blipFill>
          <a:blip r:embed="rId5"/>
          <a:stretch>
            <a:fillRect/>
          </a:stretch>
        </p:blipFill>
        <p:spPr>
          <a:xfrm>
            <a:off x="1737360" y="3383280"/>
            <a:ext cx="777240" cy="777240"/>
          </a:xfrm>
          <a:prstGeom prst="rect">
            <a:avLst/>
          </a:prstGeom>
        </p:spPr>
      </p:pic>
      <p:pic>
        <p:nvPicPr>
          <p:cNvPr id="9" name="Picture 8">
            <a:extLst>
              <a:ext uri="{FF2B5EF4-FFF2-40B4-BE49-F238E27FC236}">
                <a16:creationId xmlns:a16="http://schemas.microsoft.com/office/drawing/2014/main" id="{B64F6448-5330-F926-8C57-7A8DCCE2903D}"/>
              </a:ext>
            </a:extLst>
          </p:cNvPr>
          <p:cNvPicPr>
            <a:picLocks noChangeAspect="1"/>
          </p:cNvPicPr>
          <p:nvPr/>
        </p:nvPicPr>
        <p:blipFill>
          <a:blip r:embed="rId6"/>
          <a:stretch>
            <a:fillRect/>
          </a:stretch>
        </p:blipFill>
        <p:spPr>
          <a:xfrm>
            <a:off x="2880360" y="3383280"/>
            <a:ext cx="777240" cy="777240"/>
          </a:xfrm>
          <a:prstGeom prst="rect">
            <a:avLst/>
          </a:prstGeom>
        </p:spPr>
      </p:pic>
      <p:pic>
        <p:nvPicPr>
          <p:cNvPr id="16" name="Picture 15">
            <a:extLst>
              <a:ext uri="{FF2B5EF4-FFF2-40B4-BE49-F238E27FC236}">
                <a16:creationId xmlns:a16="http://schemas.microsoft.com/office/drawing/2014/main" id="{B941C57B-AD71-9393-B0B8-EBD242141A21}"/>
              </a:ext>
            </a:extLst>
          </p:cNvPr>
          <p:cNvPicPr>
            <a:picLocks noChangeAspect="1"/>
          </p:cNvPicPr>
          <p:nvPr/>
        </p:nvPicPr>
        <p:blipFill>
          <a:blip r:embed="rId7"/>
          <a:stretch>
            <a:fillRect/>
          </a:stretch>
        </p:blipFill>
        <p:spPr>
          <a:xfrm>
            <a:off x="594360" y="4343400"/>
            <a:ext cx="777240" cy="777240"/>
          </a:xfrm>
          <a:prstGeom prst="rect">
            <a:avLst/>
          </a:prstGeom>
        </p:spPr>
      </p:pic>
      <p:pic>
        <p:nvPicPr>
          <p:cNvPr id="17" name="Picture 16" descr="Deploying with Render | Codecademy">
            <a:extLst>
              <a:ext uri="{FF2B5EF4-FFF2-40B4-BE49-F238E27FC236}">
                <a16:creationId xmlns:a16="http://schemas.microsoft.com/office/drawing/2014/main" id="{964D6785-1E2C-B252-8A39-0BEA3BFC1A65}"/>
              </a:ext>
            </a:extLst>
          </p:cNvPr>
          <p:cNvPicPr>
            <a:picLocks noChangeAspect="1"/>
          </p:cNvPicPr>
          <p:nvPr/>
        </p:nvPicPr>
        <p:blipFill>
          <a:blip r:embed="rId8"/>
          <a:stretch>
            <a:fillRect/>
          </a:stretch>
        </p:blipFill>
        <p:spPr>
          <a:xfrm>
            <a:off x="1737360" y="4343400"/>
            <a:ext cx="1920240" cy="777240"/>
          </a:xfrm>
          <a:prstGeom prst="rect">
            <a:avLst/>
          </a:prstGeom>
        </p:spPr>
      </p:pic>
      <p:pic>
        <p:nvPicPr>
          <p:cNvPr id="18" name="Picture 17" descr="Next.js | Drupal.org">
            <a:extLst>
              <a:ext uri="{FF2B5EF4-FFF2-40B4-BE49-F238E27FC236}">
                <a16:creationId xmlns:a16="http://schemas.microsoft.com/office/drawing/2014/main" id="{B1032FCB-1407-1A3E-D56F-B7E19A7C28E7}"/>
              </a:ext>
            </a:extLst>
          </p:cNvPr>
          <p:cNvPicPr>
            <a:picLocks noChangeAspect="1"/>
          </p:cNvPicPr>
          <p:nvPr/>
        </p:nvPicPr>
        <p:blipFill>
          <a:blip r:embed="rId9"/>
          <a:stretch>
            <a:fillRect/>
          </a:stretch>
        </p:blipFill>
        <p:spPr>
          <a:xfrm>
            <a:off x="3875098" y="4343400"/>
            <a:ext cx="777240" cy="777240"/>
          </a:xfrm>
          <a:prstGeom prst="rect">
            <a:avLst/>
          </a:prstGeom>
        </p:spPr>
      </p:pic>
      <p:pic>
        <p:nvPicPr>
          <p:cNvPr id="30" name="Picture 29" descr="React (software) - Wikipedia">
            <a:extLst>
              <a:ext uri="{FF2B5EF4-FFF2-40B4-BE49-F238E27FC236}">
                <a16:creationId xmlns:a16="http://schemas.microsoft.com/office/drawing/2014/main" id="{4183353D-DD89-9A5C-C717-ADAC3F5F40FD}"/>
              </a:ext>
            </a:extLst>
          </p:cNvPr>
          <p:cNvPicPr>
            <a:picLocks noChangeAspect="1"/>
          </p:cNvPicPr>
          <p:nvPr/>
        </p:nvPicPr>
        <p:blipFill>
          <a:blip r:embed="rId10"/>
          <a:stretch>
            <a:fillRect/>
          </a:stretch>
        </p:blipFill>
        <p:spPr>
          <a:xfrm>
            <a:off x="594360" y="5260042"/>
            <a:ext cx="777240" cy="777240"/>
          </a:xfrm>
          <a:prstGeom prst="rect">
            <a:avLst/>
          </a:prstGeom>
        </p:spPr>
      </p:pic>
      <p:pic>
        <p:nvPicPr>
          <p:cNvPr id="32" name="Picture 31">
            <a:extLst>
              <a:ext uri="{FF2B5EF4-FFF2-40B4-BE49-F238E27FC236}">
                <a16:creationId xmlns:a16="http://schemas.microsoft.com/office/drawing/2014/main" id="{D77475E3-5DCF-E1EA-3986-35ADB534765E}"/>
              </a:ext>
            </a:extLst>
          </p:cNvPr>
          <p:cNvPicPr>
            <a:picLocks noChangeAspect="1"/>
          </p:cNvPicPr>
          <p:nvPr/>
        </p:nvPicPr>
        <p:blipFill>
          <a:blip r:embed="rId11"/>
          <a:stretch>
            <a:fillRect/>
          </a:stretch>
        </p:blipFill>
        <p:spPr>
          <a:xfrm>
            <a:off x="2125980" y="5260042"/>
            <a:ext cx="1143000" cy="777240"/>
          </a:xfrm>
          <a:prstGeom prst="rect">
            <a:avLst/>
          </a:prstGeom>
        </p:spPr>
      </p:pic>
      <p:pic>
        <p:nvPicPr>
          <p:cNvPr id="33" name="Picture 32" descr="Docker - Visual Studio Marketplace">
            <a:extLst>
              <a:ext uri="{FF2B5EF4-FFF2-40B4-BE49-F238E27FC236}">
                <a16:creationId xmlns:a16="http://schemas.microsoft.com/office/drawing/2014/main" id="{590860FE-291B-331A-F358-A83CC6D7A71C}"/>
              </a:ext>
            </a:extLst>
          </p:cNvPr>
          <p:cNvPicPr>
            <a:picLocks noChangeAspect="1"/>
          </p:cNvPicPr>
          <p:nvPr/>
        </p:nvPicPr>
        <p:blipFill>
          <a:blip r:embed="rId12"/>
          <a:stretch>
            <a:fillRect/>
          </a:stretch>
        </p:blipFill>
        <p:spPr>
          <a:xfrm>
            <a:off x="3875098" y="5260042"/>
            <a:ext cx="777240" cy="777240"/>
          </a:xfrm>
          <a:prstGeom prst="rect">
            <a:avLst/>
          </a:prstGeom>
        </p:spPr>
      </p:pic>
      <p:sp>
        <p:nvSpPr>
          <p:cNvPr id="17411" name="Rounded Rectangle 17410"/>
          <p:cNvSpPr/>
          <p:nvPr/>
        </p:nvSpPr>
        <p:spPr>
          <a:xfrm>
            <a:off x="6035040" y="1280160"/>
            <a:ext cx="1051560" cy="1005840"/>
          </a:xfrm>
          <a:prstGeom prst="roundRect">
            <a:avLst/>
          </a:prstGeom>
          <a:solidFill>
            <a:srgbClr val="F4F5F7"/>
          </a:solidFill>
          <a:ln w="19050">
            <a:solidFill>
              <a:srgbClr val="999999"/>
            </a:solidFill>
          </a:ln>
        </p:spPr>
        <p:style>
          <a:lnRef idx="1">
            <a:schemeClr val="accent1"/>
          </a:lnRef>
          <a:fillRef idx="3">
            <a:schemeClr val="accent1"/>
          </a:fillRef>
          <a:effectRef idx="2">
            <a:schemeClr val="accent1"/>
          </a:effectRef>
          <a:fontRef idx="minor">
            <a:schemeClr val="lt1"/>
          </a:fontRef>
        </p:style>
        <p:txBody>
          <a:bodyPr wrap="square" lIns="25400" tIns="38100" rIns="25400" bIns="25400" rtlCol="0" anchor="ctr"/>
          <a:lstStyle/>
          <a:p>
            <a:pPr algn="ctr">
              <a:defRPr sz="850" b="0">
                <a:solidFill>
                  <a:srgbClr val="222222"/>
                </a:solidFill>
              </a:defRPr>
            </a:pPr>
            <a:r>
              <a:t>① Intake &amp;</a:t>
            </a:r>
            <a:br/>
            <a:r>
              <a:t>Checklist</a:t>
            </a:r>
            <a:br/>
            <a:r>
              <a:t>(rules select)</a:t>
            </a:r>
          </a:p>
        </p:txBody>
      </p:sp>
      <p:sp>
        <p:nvSpPr>
          <p:cNvPr id="17412" name="Right Arrow 17411"/>
          <p:cNvSpPr/>
          <p:nvPr/>
        </p:nvSpPr>
        <p:spPr>
          <a:xfrm>
            <a:off x="7141464" y="1664208"/>
            <a:ext cx="146304" cy="22860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13" name="Rounded Rectangle 17412"/>
          <p:cNvSpPr/>
          <p:nvPr/>
        </p:nvSpPr>
        <p:spPr>
          <a:xfrm>
            <a:off x="7287768" y="1280160"/>
            <a:ext cx="1051560" cy="1005840"/>
          </a:xfrm>
          <a:prstGeom prst="roundRect">
            <a:avLst/>
          </a:prstGeom>
          <a:solidFill>
            <a:srgbClr val="F4F5F7"/>
          </a:solidFill>
          <a:ln w="19050">
            <a:solidFill>
              <a:srgbClr val="999999"/>
            </a:solidFill>
          </a:ln>
        </p:spPr>
        <p:style>
          <a:lnRef idx="1">
            <a:schemeClr val="accent1"/>
          </a:lnRef>
          <a:fillRef idx="3">
            <a:schemeClr val="accent1"/>
          </a:fillRef>
          <a:effectRef idx="2">
            <a:schemeClr val="accent1"/>
          </a:effectRef>
          <a:fontRef idx="minor">
            <a:schemeClr val="lt1"/>
          </a:fontRef>
        </p:style>
        <p:txBody>
          <a:bodyPr wrap="square" lIns="25400" tIns="38100" rIns="25400" bIns="25400" rtlCol="0" anchor="ctr"/>
          <a:lstStyle/>
          <a:p>
            <a:pPr algn="ctr">
              <a:defRPr sz="850" b="0">
                <a:solidFill>
                  <a:srgbClr val="222222"/>
                </a:solidFill>
              </a:defRPr>
            </a:pPr>
            <a:r>
              <a:t>② Read</a:t>
            </a:r>
            <a:br/>
            <a:r>
              <a:t>Documents</a:t>
            </a:r>
            <a:br/>
            <a:r>
              <a:t>(OCR/Vision)</a:t>
            </a:r>
          </a:p>
        </p:txBody>
      </p:sp>
      <p:sp>
        <p:nvSpPr>
          <p:cNvPr id="17414" name="Right Arrow 17413"/>
          <p:cNvSpPr/>
          <p:nvPr/>
        </p:nvSpPr>
        <p:spPr>
          <a:xfrm>
            <a:off x="8394192" y="1664208"/>
            <a:ext cx="146304" cy="22860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15" name="Rounded Rectangle 17414"/>
          <p:cNvSpPr/>
          <p:nvPr/>
        </p:nvSpPr>
        <p:spPr>
          <a:xfrm>
            <a:off x="8540496" y="1280160"/>
            <a:ext cx="1051560" cy="1005840"/>
          </a:xfrm>
          <a:prstGeom prst="roundRect">
            <a:avLst/>
          </a:prstGeom>
          <a:solidFill>
            <a:srgbClr val="F4F5F7"/>
          </a:solidFill>
          <a:ln w="19050">
            <a:solidFill>
              <a:srgbClr val="999999"/>
            </a:solidFill>
          </a:ln>
        </p:spPr>
        <p:style>
          <a:lnRef idx="1">
            <a:schemeClr val="accent1"/>
          </a:lnRef>
          <a:fillRef idx="3">
            <a:schemeClr val="accent1"/>
          </a:fillRef>
          <a:effectRef idx="2">
            <a:schemeClr val="accent1"/>
          </a:effectRef>
          <a:fontRef idx="minor">
            <a:schemeClr val="lt1"/>
          </a:fontRef>
        </p:style>
        <p:txBody>
          <a:bodyPr wrap="square" lIns="25400" tIns="38100" rIns="25400" bIns="25400" rtlCol="0" anchor="ctr"/>
          <a:lstStyle/>
          <a:p>
            <a:pPr algn="ctr">
              <a:defRPr sz="850" b="0">
                <a:solidFill>
                  <a:srgbClr val="222222"/>
                </a:solidFill>
              </a:defRPr>
            </a:pPr>
            <a:r>
              <a:t>③ Validity</a:t>
            </a:r>
            <a:br/>
            <a:r>
              <a:t>Rules</a:t>
            </a:r>
            <a:br/>
            <a:r>
              <a:t>(missing/exp)</a:t>
            </a:r>
          </a:p>
        </p:txBody>
      </p:sp>
      <p:sp>
        <p:nvSpPr>
          <p:cNvPr id="17416" name="Right Arrow 17415"/>
          <p:cNvSpPr/>
          <p:nvPr/>
        </p:nvSpPr>
        <p:spPr>
          <a:xfrm>
            <a:off x="9646920" y="1664208"/>
            <a:ext cx="146304" cy="22860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17" name="Rounded Rectangle 17416"/>
          <p:cNvSpPr/>
          <p:nvPr/>
        </p:nvSpPr>
        <p:spPr>
          <a:xfrm>
            <a:off x="9793224" y="1280160"/>
            <a:ext cx="1051560" cy="1005840"/>
          </a:xfrm>
          <a:prstGeom prst="roundRect">
            <a:avLst/>
          </a:prstGeom>
          <a:solidFill>
            <a:srgbClr val="F4F5F7"/>
          </a:solidFill>
          <a:ln w="19050">
            <a:solidFill>
              <a:srgbClr val="999999"/>
            </a:solidFill>
          </a:ln>
        </p:spPr>
        <p:style>
          <a:lnRef idx="1">
            <a:schemeClr val="accent1"/>
          </a:lnRef>
          <a:fillRef idx="3">
            <a:schemeClr val="accent1"/>
          </a:fillRef>
          <a:effectRef idx="2">
            <a:schemeClr val="accent1"/>
          </a:effectRef>
          <a:fontRef idx="minor">
            <a:schemeClr val="lt1"/>
          </a:fontRef>
        </p:style>
        <p:txBody>
          <a:bodyPr wrap="square" lIns="25400" tIns="38100" rIns="25400" bIns="25400" rtlCol="0" anchor="ctr"/>
          <a:lstStyle/>
          <a:p>
            <a:pPr algn="ctr">
              <a:defRPr sz="850" b="0">
                <a:solidFill>
                  <a:srgbClr val="222222"/>
                </a:solidFill>
              </a:defRPr>
            </a:pPr>
            <a:r>
              <a:t>④ Cross-</a:t>
            </a:r>
            <a:br/>
            <a:r>
              <a:t>Check</a:t>
            </a:r>
            <a:br/>
            <a:r>
              <a:t>(intake/prev)</a:t>
            </a:r>
          </a:p>
        </p:txBody>
      </p:sp>
      <p:sp>
        <p:nvSpPr>
          <p:cNvPr id="17418" name="Rounded Rectangle 17417"/>
          <p:cNvSpPr/>
          <p:nvPr/>
        </p:nvSpPr>
        <p:spPr>
          <a:xfrm>
            <a:off x="6035040" y="2834640"/>
            <a:ext cx="1051560" cy="1005840"/>
          </a:xfrm>
          <a:prstGeom prst="roundRect">
            <a:avLst/>
          </a:prstGeom>
          <a:solidFill>
            <a:srgbClr val="F4F5F7"/>
          </a:solidFill>
          <a:ln w="19050">
            <a:solidFill>
              <a:srgbClr val="999999"/>
            </a:solidFill>
          </a:ln>
        </p:spPr>
        <p:style>
          <a:lnRef idx="1">
            <a:schemeClr val="accent1"/>
          </a:lnRef>
          <a:fillRef idx="3">
            <a:schemeClr val="accent1"/>
          </a:fillRef>
          <a:effectRef idx="2">
            <a:schemeClr val="accent1"/>
          </a:effectRef>
          <a:fontRef idx="minor">
            <a:schemeClr val="lt1"/>
          </a:fontRef>
        </p:style>
        <p:txBody>
          <a:bodyPr wrap="square" lIns="25400" tIns="38100" rIns="25400" bIns="25400" rtlCol="0" anchor="ctr"/>
          <a:lstStyle/>
          <a:p>
            <a:pPr algn="ctr">
              <a:defRPr sz="850" b="0">
                <a:solidFill>
                  <a:srgbClr val="222222"/>
                </a:solidFill>
              </a:defRPr>
            </a:pPr>
            <a:r>
              <a:rPr dirty="0"/>
              <a:t>⑤ Anomaly</a:t>
            </a:r>
            <a:br>
              <a:rPr dirty="0"/>
            </a:br>
            <a:r>
              <a:rPr dirty="0"/>
              <a:t>Flags</a:t>
            </a:r>
            <a:br>
              <a:rPr dirty="0"/>
            </a:br>
            <a:r>
              <a:rPr dirty="0"/>
              <a:t>(metadata/dup)</a:t>
            </a:r>
          </a:p>
        </p:txBody>
      </p:sp>
      <p:sp>
        <p:nvSpPr>
          <p:cNvPr id="17419" name="Right Arrow 17418"/>
          <p:cNvSpPr/>
          <p:nvPr/>
        </p:nvSpPr>
        <p:spPr>
          <a:xfrm>
            <a:off x="7141464" y="3218688"/>
            <a:ext cx="146304" cy="22860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0" name="Rounded Rectangle 17419"/>
          <p:cNvSpPr/>
          <p:nvPr/>
        </p:nvSpPr>
        <p:spPr>
          <a:xfrm>
            <a:off x="7287768" y="2834640"/>
            <a:ext cx="1051560" cy="1005840"/>
          </a:xfrm>
          <a:prstGeom prst="roundRect">
            <a:avLst/>
          </a:prstGeom>
          <a:solidFill>
            <a:srgbClr val="FFF6EA"/>
          </a:solidFill>
          <a:ln w="19050">
            <a:solidFill>
              <a:srgbClr val="DD8800"/>
            </a:solidFill>
            <a:prstDash val="sysDash"/>
          </a:ln>
        </p:spPr>
        <p:style>
          <a:lnRef idx="1">
            <a:schemeClr val="accent1"/>
          </a:lnRef>
          <a:fillRef idx="3">
            <a:schemeClr val="accent1"/>
          </a:fillRef>
          <a:effectRef idx="2">
            <a:schemeClr val="accent1"/>
          </a:effectRef>
          <a:fontRef idx="minor">
            <a:schemeClr val="lt1"/>
          </a:fontRef>
        </p:style>
        <p:txBody>
          <a:bodyPr wrap="square" lIns="25400" tIns="38100" rIns="25400" bIns="25400" rtlCol="0" anchor="ctr"/>
          <a:lstStyle/>
          <a:p>
            <a:pPr algn="ctr">
              <a:defRPr sz="850" b="0">
                <a:solidFill>
                  <a:srgbClr val="222222"/>
                </a:solidFill>
              </a:defRPr>
            </a:pPr>
            <a:r>
              <a:t>⑥ Source</a:t>
            </a:r>
            <a:br/>
            <a:r>
              <a:t>Verify</a:t>
            </a:r>
            <a:br/>
            <a:r>
              <a:t>(simulated)</a:t>
            </a:r>
          </a:p>
        </p:txBody>
      </p:sp>
      <p:sp>
        <p:nvSpPr>
          <p:cNvPr id="17421" name="Right Arrow 17420"/>
          <p:cNvSpPr/>
          <p:nvPr/>
        </p:nvSpPr>
        <p:spPr>
          <a:xfrm>
            <a:off x="8394192" y="3218688"/>
            <a:ext cx="146304" cy="22860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2" name="Rounded Rectangle 17421"/>
          <p:cNvSpPr/>
          <p:nvPr/>
        </p:nvSpPr>
        <p:spPr>
          <a:xfrm>
            <a:off x="8540496" y="2834640"/>
            <a:ext cx="1051560" cy="1005840"/>
          </a:xfrm>
          <a:prstGeom prst="roundRect">
            <a:avLst/>
          </a:prstGeom>
          <a:solidFill>
            <a:srgbClr val="F4F5F7"/>
          </a:solidFill>
          <a:ln w="19050">
            <a:solidFill>
              <a:srgbClr val="999999"/>
            </a:solidFill>
          </a:ln>
        </p:spPr>
        <p:style>
          <a:lnRef idx="1">
            <a:schemeClr val="accent1"/>
          </a:lnRef>
          <a:fillRef idx="3">
            <a:schemeClr val="accent1"/>
          </a:fillRef>
          <a:effectRef idx="2">
            <a:schemeClr val="accent1"/>
          </a:effectRef>
          <a:fontRef idx="minor">
            <a:schemeClr val="lt1"/>
          </a:fontRef>
        </p:style>
        <p:txBody>
          <a:bodyPr wrap="square" lIns="25400" tIns="38100" rIns="25400" bIns="25400" rtlCol="0" anchor="ctr"/>
          <a:lstStyle/>
          <a:p>
            <a:pPr algn="ctr">
              <a:defRPr sz="850" b="0">
                <a:solidFill>
                  <a:srgbClr val="222222"/>
                </a:solidFill>
              </a:defRPr>
            </a:pPr>
            <a:r>
              <a:t>⑦ Dashboard</a:t>
            </a:r>
            <a:br/>
            <a:r>
              <a:t>&amp; Audit</a:t>
            </a:r>
            <a:br/>
            <a:r>
              <a:t>Trail</a:t>
            </a:r>
          </a:p>
        </p:txBody>
      </p:sp>
      <p:sp>
        <p:nvSpPr>
          <p:cNvPr id="17423" name="Right Arrow 17422"/>
          <p:cNvSpPr/>
          <p:nvPr/>
        </p:nvSpPr>
        <p:spPr>
          <a:xfrm>
            <a:off x="9646920" y="3218688"/>
            <a:ext cx="146304" cy="22860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4" name="Rounded Rectangle 17423"/>
          <p:cNvSpPr/>
          <p:nvPr/>
        </p:nvSpPr>
        <p:spPr>
          <a:xfrm>
            <a:off x="9793224" y="2834640"/>
            <a:ext cx="1051560" cy="1005840"/>
          </a:xfrm>
          <a:prstGeom prst="roundRect">
            <a:avLst/>
          </a:prstGeom>
          <a:solidFill>
            <a:srgbClr val="005BBB"/>
          </a:solidFill>
          <a:ln w="19050">
            <a:solidFill>
              <a:srgbClr val="999999"/>
            </a:solidFill>
          </a:ln>
        </p:spPr>
        <p:style>
          <a:lnRef idx="1">
            <a:schemeClr val="accent1"/>
          </a:lnRef>
          <a:fillRef idx="3">
            <a:schemeClr val="accent1"/>
          </a:fillRef>
          <a:effectRef idx="2">
            <a:schemeClr val="accent1"/>
          </a:effectRef>
          <a:fontRef idx="minor">
            <a:schemeClr val="lt1"/>
          </a:fontRef>
        </p:style>
        <p:txBody>
          <a:bodyPr wrap="square" lIns="25400" tIns="38100" rIns="25400" bIns="25400" rtlCol="0" anchor="ctr"/>
          <a:lstStyle/>
          <a:p>
            <a:pPr algn="ctr">
              <a:defRPr sz="850" b="1">
                <a:solidFill>
                  <a:srgbClr val="FFFFFF"/>
                </a:solidFill>
              </a:defRPr>
            </a:pPr>
            <a:r>
              <a:t>⑧ Officer</a:t>
            </a:r>
            <a:br/>
            <a:r>
              <a:t>Review</a:t>
            </a:r>
            <a:br/>
            <a:r>
              <a:t>(human)</a:t>
            </a:r>
          </a:p>
        </p:txBody>
      </p:sp>
      <p:sp>
        <p:nvSpPr>
          <p:cNvPr id="17425" name="Can 17424"/>
          <p:cNvSpPr/>
          <p:nvPr/>
        </p:nvSpPr>
        <p:spPr>
          <a:xfrm>
            <a:off x="10981944" y="1280160"/>
            <a:ext cx="914400" cy="2560320"/>
          </a:xfrm>
          <a:prstGeom prst="can">
            <a:avLst/>
          </a:prstGeom>
          <a:solidFill>
            <a:srgbClr val="EBF3FC"/>
          </a:solidFill>
          <a:ln w="19050">
            <a:solidFill>
              <a:srgbClr val="005BBB"/>
            </a:solidFill>
          </a:ln>
        </p:spPr>
        <p:style>
          <a:lnRef idx="1">
            <a:schemeClr val="accent1"/>
          </a:lnRef>
          <a:fillRef idx="3">
            <a:schemeClr val="accent1"/>
          </a:fillRef>
          <a:effectRef idx="2">
            <a:schemeClr val="accent1"/>
          </a:effectRef>
          <a:fontRef idx="minor">
            <a:schemeClr val="lt1"/>
          </a:fontRef>
        </p:style>
        <p:txBody>
          <a:bodyPr wrap="square" lIns="25400" tIns="101600" rIns="25400" rtlCol="0" anchor="ctr"/>
          <a:lstStyle/>
          <a:p>
            <a:pPr algn="ctr">
              <a:defRPr sz="850" b="1">
                <a:solidFill>
                  <a:srgbClr val="003388"/>
                </a:solidFill>
              </a:defRPr>
            </a:pPr>
            <a:r>
              <a:t>PostgreSQL</a:t>
            </a:r>
            <a:br/>
            <a:br/>
            <a:r>
              <a:t>Apps · Docs</a:t>
            </a:r>
            <a:br/>
            <a:r>
              <a:t>Flags · Audit</a:t>
            </a:r>
            <a:br/>
            <a:r>
              <a:t>(steps ③-⑦)</a:t>
            </a:r>
          </a:p>
        </p:txBody>
      </p:sp>
      <p:sp>
        <p:nvSpPr>
          <p:cNvPr id="17426" name="TextBox 17425"/>
          <p:cNvSpPr txBox="1"/>
          <p:nvPr/>
        </p:nvSpPr>
        <p:spPr>
          <a:xfrm>
            <a:off x="6012836" y="4343400"/>
            <a:ext cx="3767250" cy="523220"/>
          </a:xfrm>
          <a:prstGeom prst="rect">
            <a:avLst/>
          </a:prstGeom>
          <a:noFill/>
        </p:spPr>
        <p:txBody>
          <a:bodyPr wrap="none">
            <a:spAutoFit/>
          </a:bodyPr>
          <a:lstStyle/>
          <a:p>
            <a:pPr>
              <a:defRPr sz="850" i="1">
                <a:solidFill>
                  <a:srgbClr val="555555"/>
                </a:solidFill>
              </a:defRPr>
            </a:pPr>
            <a:r>
              <a:rPr sz="1400" b="1" dirty="0"/>
              <a:t>Legend dashed outline = simulated component </a:t>
            </a:r>
            <a:br>
              <a:rPr lang="en-US" sz="1400" b="1" dirty="0"/>
            </a:br>
            <a:r>
              <a:rPr sz="1400" b="1" dirty="0"/>
              <a:t>⑧ blue = officer decision (human in the loop)</a:t>
            </a:r>
          </a:p>
        </p:txBody>
      </p:sp>
      <p:pic>
        <p:nvPicPr>
          <p:cNvPr id="4" name="Picture 3">
            <a:extLst>
              <a:ext uri="{FF2B5EF4-FFF2-40B4-BE49-F238E27FC236}">
                <a16:creationId xmlns:a16="http://schemas.microsoft.com/office/drawing/2014/main" id="{ABF08BEB-983A-FC5B-3CC6-8D5073FC68B5}"/>
              </a:ext>
            </a:extLst>
          </p:cNvPr>
          <p:cNvPicPr>
            <a:picLocks noChangeAspect="1"/>
          </p:cNvPicPr>
          <p:nvPr/>
        </p:nvPicPr>
        <p:blipFill>
          <a:blip r:embed="rId13"/>
          <a:stretch>
            <a:fillRect/>
          </a:stretch>
        </p:blipFill>
        <p:spPr>
          <a:xfrm>
            <a:off x="3858768" y="3383280"/>
            <a:ext cx="777240" cy="777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457200" y="1095376"/>
            <a:ext cx="7132320" cy="4931714"/>
          </a:xfrm>
          <a:prstGeom prst="rect">
            <a:avLst/>
          </a:prstGeom>
          <a:noFill/>
          <a:ln w="9525">
            <a:noFill/>
            <a:miter lim="800000"/>
            <a:headEnd/>
            <a:tailEnd/>
          </a:ln>
        </p:spPr>
        <p:txBody>
          <a:bodyPr rIns="76200"/>
          <a:lstStyle/>
          <a:p>
            <a:r>
              <a:rPr lang="en-IN" sz="1200" b="1" dirty="0"/>
              <a:t>Analysis of Feasibility</a:t>
            </a:r>
          </a:p>
          <a:p>
            <a:r>
              <a:rPr lang="en-IN" sz="1150" b="1" dirty="0"/>
              <a:t>Core pipeline — HIGH feasibility</a:t>
            </a:r>
          </a:p>
          <a:p>
            <a:r>
              <a:rPr lang="en-IN" sz="1050" b="0" dirty="0"/>
              <a:t>  Document upload, vision LLM / OCR extraction and classification, category checklists, missing / expired / empty field rules</a:t>
            </a:r>
          </a:p>
          <a:p>
            <a:r>
              <a:rPr lang="en-IN" sz="1150" b="1" dirty="0"/>
              <a:t>Consistency and anomaly checks — HIGH to MEDIUM</a:t>
            </a:r>
          </a:p>
          <a:p>
            <a:r>
              <a:rPr lang="en-IN" sz="1050" b="0" dirty="0"/>
              <a:t>  Cross-document and institutional record comparison on seeded data (HIGH) metadata anomaly flags and duplicate detection (MEDIUM, preliminary indicators only)</a:t>
            </a:r>
          </a:p>
          <a:p>
            <a:r>
              <a:rPr lang="en-IN" sz="1150" b="1" dirty="0"/>
              <a:t>Dashboard, review queue and audit trail — HIGH</a:t>
            </a:r>
          </a:p>
          <a:p>
            <a:r>
              <a:rPr lang="en-IN" sz="1050" b="0" dirty="0"/>
              <a:t>  Standard web CRUD, rule-based priority, append-only log role based access kept small (officer / senior officer / admin)</a:t>
            </a:r>
          </a:p>
          <a:p>
            <a:r>
              <a:rPr lang="en-IN" sz="1150" b="1" dirty="0"/>
              <a:t>Issuing-authority verification — LOW to build for real, so SIMULATED</a:t>
            </a:r>
          </a:p>
          <a:p>
            <a:r>
              <a:rPr lang="en-IN" sz="1050" b="0" dirty="0"/>
              <a:t>  No authorised sandbox access in a hackathon mock source with seeded responses and clearly labelled status chips</a:t>
            </a:r>
          </a:p>
          <a:p>
            <a:r>
              <a:rPr lang="en-IN" sz="1150" b="1" dirty="0"/>
              <a:t>Infrastructure compliance (computer vision) — LOW, scoped down</a:t>
            </a:r>
          </a:p>
          <a:p>
            <a:r>
              <a:rPr lang="en-IN" sz="1050" b="0" dirty="0"/>
              <a:t>  Light vision LLM observations on uploaded photos only</a:t>
            </a:r>
            <a:r>
              <a:rPr lang="en-IN" sz="1050" dirty="0"/>
              <a:t>,</a:t>
            </a:r>
            <a:r>
              <a:rPr lang="en-IN" sz="1050" b="0" dirty="0"/>
              <a:t> trained floor plan analysis is not attempted</a:t>
            </a:r>
          </a:p>
          <a:p>
            <a:endParaRPr lang="en-IN" sz="800" dirty="0"/>
          </a:p>
          <a:p>
            <a:r>
              <a:rPr lang="en-IN" sz="1250" b="1" dirty="0"/>
              <a:t>Risks and Mitigations</a:t>
            </a:r>
          </a:p>
          <a:p>
            <a:r>
              <a:rPr lang="en-IN" sz="1050" b="0" dirty="0"/>
              <a:t>Each risk is named specifically, with how we reduce it.</a:t>
            </a:r>
          </a:p>
          <a:p>
            <a:r>
              <a:rPr lang="en-IN" sz="1050" b="0" dirty="0"/>
              <a:t>Overclaiming forgery detection — lead with explainable metadata and consistency checks label every flag a preliminary indicator requiring human verification</a:t>
            </a:r>
          </a:p>
          <a:p>
            <a:r>
              <a:rPr lang="en-IN" sz="1050" b="0" dirty="0"/>
              <a:t>No real institutional or issuing-authority data — seed realistic synthetic records, label them as such, and demonstrate verification as simulated</a:t>
            </a:r>
          </a:p>
          <a:p>
            <a:r>
              <a:rPr lang="en-IN" sz="1050" b="0" dirty="0"/>
              <a:t>Extraction accuracy on messy scans — test early on varied skewed and low quality documents extractions that fail validation go to manual review, never silent acceptance</a:t>
            </a:r>
          </a:p>
          <a:p>
            <a:r>
              <a:rPr lang="en-IN" sz="1050" b="0" dirty="0"/>
              <a:t>Explainability — every flag stores the field, value found, value expected, source document and the rule that fired, so evidence is built in, not retrofitted</a:t>
            </a:r>
          </a:p>
          <a:p>
            <a:r>
              <a:rPr lang="en-IN" sz="1050" b="0" dirty="0"/>
              <a:t>Scope creep — the core pipeline is demo-stable first  simulated and scoped down parts are not expanded until it is</a:t>
            </a:r>
          </a:p>
        </p:txBody>
      </p:sp>
      <p:sp>
        <p:nvSpPr>
          <p:cNvPr id="6" name="Slide Number Placeholder 5"/>
          <p:cNvSpPr>
            <a:spLocks noGrp="1"/>
          </p:cNvSpPr>
          <p:nvPr>
            <p:ph type="sldNum" sz="quarter" idx="12"/>
          </p:nvPr>
        </p:nvSpPr>
        <p:spPr/>
        <p:txBody>
          <a:bodyPr wrap="square"/>
          <a:lstStyle/>
          <a:p>
            <a:r>
              <a:rPr lang="en-IN" sz="1000"/>
              <a:t>6</a:t>
            </a: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adeGothic"/>
                <a:ea typeface="+mn-ea"/>
                <a:cs typeface="+mn-cs"/>
              </a:rPr>
              <a:t>@SIH Idea submission</a:t>
            </a: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457200" y="281884"/>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rtlCol="0" anchor="ctr"/>
          <a:lstStyle/>
          <a:p>
            <a:r>
              <a:rPr lang="en-IN" altLang="en-US" sz="800" b="1" dirty="0"/>
              <a:t>Conquerors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9" name="TextBox 18">
            <a:extLst>
              <a:ext uri="{FF2B5EF4-FFF2-40B4-BE49-F238E27FC236}">
                <a16:creationId xmlns:a16="http://schemas.microsoft.com/office/drawing/2014/main" id="{17B94490-30AC-DD78-2604-4B905DA38E48}"/>
              </a:ext>
            </a:extLst>
          </p:cNvPr>
          <p:cNvSpPr txBox="1"/>
          <p:nvPr/>
        </p:nvSpPr>
        <p:spPr>
          <a:xfrm>
            <a:off x="5992898" y="1022480"/>
            <a:ext cx="3011424" cy="307777"/>
          </a:xfrm>
          <a:prstGeom prst="rect">
            <a:avLst/>
          </a:prstGeom>
          <a:noFill/>
        </p:spPr>
        <p:txBody>
          <a:bodyPr wrap="square" rtlCol="0">
            <a:spAutoFit/>
          </a:bodyPr>
          <a:lstStyle/>
          <a:p>
            <a:r>
              <a:rPr lang="en-US" sz="1400" b="1"/>
              <a:t>UI Prototype -</a:t>
            </a:r>
            <a:endParaRPr lang="en-US" sz="1400" b="1" dirty="0"/>
          </a:p>
        </p:txBody>
      </p:sp>
      <p:sp>
        <p:nvSpPr>
          <p:cNvPr id="17411" name="Rectangle 17410"/>
          <p:cNvSpPr/>
          <p:nvPr/>
        </p:nvSpPr>
        <p:spPr>
          <a:xfrm>
            <a:off x="7818120" y="1143000"/>
            <a:ext cx="3931920" cy="4297680"/>
          </a:xfrm>
          <a:prstGeom prst="rect">
            <a:avLst/>
          </a:prstGeom>
          <a:noFill/>
          <a:ln w="19050">
            <a:solidFill>
              <a:srgbClr val="888888"/>
            </a:solidFill>
            <a:prstDash val="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i="1">
                <a:solidFill>
                  <a:srgbClr val="888888"/>
                </a:solidFill>
              </a:defRPr>
            </a:pPr>
            <a:endParaRPr dirty="0"/>
          </a:p>
        </p:txBody>
      </p:sp>
      <p:pic>
        <p:nvPicPr>
          <p:cNvPr id="16" name="Picture 15">
            <a:extLst>
              <a:ext uri="{FF2B5EF4-FFF2-40B4-BE49-F238E27FC236}">
                <a16:creationId xmlns:a16="http://schemas.microsoft.com/office/drawing/2014/main" id="{B46E0A1B-9D5F-A31E-0430-9F846B3B15EF}"/>
              </a:ext>
            </a:extLst>
          </p:cNvPr>
          <p:cNvPicPr>
            <a:picLocks noChangeAspect="1"/>
          </p:cNvPicPr>
          <p:nvPr/>
        </p:nvPicPr>
        <p:blipFill>
          <a:blip r:embed="rId4"/>
          <a:stretch>
            <a:fillRect/>
          </a:stretch>
        </p:blipFill>
        <p:spPr>
          <a:xfrm>
            <a:off x="8029672" y="1417320"/>
            <a:ext cx="3500827" cy="379364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457200" y="1086031"/>
            <a:ext cx="5852160" cy="5457892"/>
          </a:xfrm>
          <a:prstGeom prst="rect">
            <a:avLst/>
          </a:prstGeom>
          <a:noFill/>
          <a:ln w="9525">
            <a:noFill/>
            <a:miter lim="800000"/>
            <a:headEnd/>
            <a:tailEnd/>
          </a:ln>
        </p:spPr>
        <p:txBody>
          <a:bodyPr rIns="76200"/>
          <a:lstStyle/>
          <a:p>
            <a:r>
              <a:rPr lang="en-IN" sz="1400" b="1" dirty="0"/>
              <a:t>Expected Outcomes — Supported by What Is Built</a:t>
            </a:r>
          </a:p>
          <a:p>
            <a:endParaRPr lang="en-IN" sz="1000" dirty="0"/>
          </a:p>
          <a:p>
            <a:r>
              <a:rPr lang="en-IN" sz="1200" b="1" dirty="0"/>
              <a:t>Earlier identification of missing, expired or inconsistent information</a:t>
            </a:r>
          </a:p>
          <a:p>
            <a:r>
              <a:rPr lang="en-IN" sz="1100" b="0" dirty="0"/>
              <a:t>  Checklist, validity and cross</a:t>
            </a:r>
            <a:r>
              <a:rPr lang="en-IN" sz="1100" dirty="0"/>
              <a:t> </a:t>
            </a:r>
            <a:r>
              <a:rPr lang="en-IN" sz="1100" b="0" dirty="0"/>
              <a:t>document checks run at the application stage, so gaps are visible before detailed scrutiny starts.</a:t>
            </a:r>
          </a:p>
          <a:p>
            <a:r>
              <a:rPr lang="en-IN" sz="1200" b="1" dirty="0"/>
              <a:t>Designed to reduce repetitive manual scrutiny</a:t>
            </a:r>
          </a:p>
          <a:p>
            <a:r>
              <a:rPr lang="en-IN" sz="1100" b="0" dirty="0"/>
              <a:t>  Officers open a review queue ordered by priority, with each flag already showing its evidence, instead of reading every page of every application.</a:t>
            </a:r>
          </a:p>
          <a:p>
            <a:endParaRPr lang="en-IN" sz="1000" dirty="0"/>
          </a:p>
          <a:p>
            <a:r>
              <a:rPr lang="en-IN" sz="1200" b="1" dirty="0"/>
              <a:t>Transparency, accountability and auditability</a:t>
            </a:r>
          </a:p>
          <a:p>
            <a:r>
              <a:rPr lang="en-IN" sz="1100" b="0" dirty="0"/>
              <a:t>  Evidence linked flags and an append-only audit trail of rules applied, records checked and officer actions make every outcome traceable.</a:t>
            </a:r>
          </a:p>
          <a:p>
            <a:endParaRPr lang="en-IN" sz="1000" dirty="0"/>
          </a:p>
          <a:p>
            <a:r>
              <a:rPr lang="en-IN" sz="1400" b="1" dirty="0"/>
              <a:t>Stakeholder Impact</a:t>
            </a:r>
          </a:p>
          <a:p>
            <a:r>
              <a:rPr lang="en-IN" sz="1100" b="0" dirty="0"/>
              <a:t>Scrutiny officers   First pass checking is automated they review flagged cases with evidence side by side</a:t>
            </a:r>
          </a:p>
          <a:p>
            <a:r>
              <a:rPr lang="en-IN" sz="1100" b="0" dirty="0"/>
              <a:t>Senior officers / competent authority   Consistent, configurable checks and a traceable record support decisions that remain theirs</a:t>
            </a:r>
          </a:p>
          <a:p>
            <a:r>
              <a:rPr lang="en-IN" sz="1100" b="0" dirty="0"/>
              <a:t>Institutions   Missing or expired items surface earlier, so they can be rectified where the approval process permits</a:t>
            </a:r>
          </a:p>
          <a:p>
            <a:endParaRPr lang="en-IN" sz="900" dirty="0"/>
          </a:p>
          <a:p>
            <a:r>
              <a:rPr lang="en-IN" sz="1000" b="0" dirty="0"/>
              <a:t>Not claimed  measured accuracy or time savings (the prototype is demonstrated on synthetic data only), verified authenticity through live issuing-authority sources (simulated), and fewer physical inspections through infrastructure analysis (not built).</a:t>
            </a:r>
          </a:p>
          <a:p>
            <a:endParaRPr lang="en-IN" sz="900" dirty="0"/>
          </a:p>
          <a:p>
            <a:r>
              <a:rPr lang="en-IN" sz="1000" b="0" dirty="0"/>
              <a:t>Note  AI output is decision support only; statutory scrutiny, inspections and final regulatory decisions remain with the competent AICTE authorities.</a:t>
            </a:r>
          </a:p>
        </p:txBody>
      </p:sp>
      <p:sp>
        <p:nvSpPr>
          <p:cNvPr id="6" name="Slide Number Placeholder 5"/>
          <p:cNvSpPr>
            <a:spLocks noGrp="1"/>
          </p:cNvSpPr>
          <p:nvPr>
            <p:ph type="sldNum" sz="quarter" idx="12"/>
          </p:nvPr>
        </p:nvSpPr>
        <p:spPr/>
        <p:txBody>
          <a:bodyPr wrap="square"/>
          <a:lstStyle/>
          <a:p>
            <a:r>
              <a:rPr lang="en-IN" sz="1000"/>
              <a:t>7</a:t>
            </a: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adeGothic"/>
                <a:ea typeface="+mn-ea"/>
                <a:cs typeface="+mn-cs"/>
              </a:rPr>
              <a:t>@SIH Idea submission</a:t>
            </a: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rtlCol="0" anchor="ctr"/>
          <a:lstStyle/>
          <a:p>
            <a:r>
              <a:rPr lang="en-IN" altLang="en-US" sz="800" b="1" dirty="0"/>
              <a:t>Conquerors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6492240" y="1371600"/>
            <a:ext cx="5303520" cy="1097280"/>
          </a:xfrm>
          <a:prstGeom prst="roundRect">
            <a:avLst/>
          </a:prstGeom>
          <a:solidFill>
            <a:srgbClr val="FFEEEE"/>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wrap="square" lIns="152400" tIns="76200" rIns="152400" bIns="76200" rtlCol="0" anchor="ctr"/>
          <a:lstStyle/>
          <a:p>
            <a:pPr algn="l">
              <a:defRPr sz="1400" b="1">
                <a:solidFill>
                  <a:srgbClr val="CC0000"/>
                </a:solidFill>
              </a:defRPr>
            </a:pPr>
            <a:r>
              <a:t>HIGH</a:t>
            </a:r>
          </a:p>
          <a:p>
            <a:pPr algn="l">
              <a:defRPr sz="1100">
                <a:solidFill>
                  <a:srgbClr val="222222"/>
                </a:solidFill>
              </a:defRPr>
            </a:pPr>
            <a:r>
              <a:t>Expired mandatory certificate</a:t>
            </a:r>
            <a:br/>
            <a:r>
              <a:t>Major intake discrepancy</a:t>
            </a:r>
          </a:p>
        </p:txBody>
      </p:sp>
      <p:sp>
        <p:nvSpPr>
          <p:cNvPr id="17412" name="Rounded Rectangle 17411"/>
          <p:cNvSpPr/>
          <p:nvPr/>
        </p:nvSpPr>
        <p:spPr>
          <a:xfrm>
            <a:off x="6492240" y="2633472"/>
            <a:ext cx="5303520" cy="1097280"/>
          </a:xfrm>
          <a:prstGeom prst="roundRect">
            <a:avLst/>
          </a:prstGeom>
          <a:solidFill>
            <a:srgbClr val="FFF4DC"/>
          </a:solidFill>
          <a:ln w="25400">
            <a:solidFill>
              <a:srgbClr val="CC8800"/>
            </a:solidFill>
          </a:ln>
        </p:spPr>
        <p:style>
          <a:lnRef idx="1">
            <a:schemeClr val="accent1"/>
          </a:lnRef>
          <a:fillRef idx="3">
            <a:schemeClr val="accent1"/>
          </a:fillRef>
          <a:effectRef idx="2">
            <a:schemeClr val="accent1"/>
          </a:effectRef>
          <a:fontRef idx="minor">
            <a:schemeClr val="lt1"/>
          </a:fontRef>
        </p:style>
        <p:txBody>
          <a:bodyPr wrap="square" lIns="152400" tIns="76200" rIns="152400" bIns="76200" rtlCol="0" anchor="ctr"/>
          <a:lstStyle/>
          <a:p>
            <a:pPr algn="l">
              <a:defRPr sz="1400" b="1">
                <a:solidFill>
                  <a:srgbClr val="CC8800"/>
                </a:solidFill>
              </a:defRPr>
            </a:pPr>
            <a:r>
              <a:t>MEDIUM</a:t>
            </a:r>
          </a:p>
          <a:p>
            <a:pPr algn="l">
              <a:defRPr sz="1100">
                <a:solidFill>
                  <a:srgbClr val="222222"/>
                </a:solidFill>
              </a:defRPr>
            </a:pPr>
            <a:r>
              <a:t>Conflicting information needing clarification</a:t>
            </a:r>
          </a:p>
        </p:txBody>
      </p:sp>
      <p:sp>
        <p:nvSpPr>
          <p:cNvPr id="17413" name="Rounded Rectangle 17412"/>
          <p:cNvSpPr/>
          <p:nvPr/>
        </p:nvSpPr>
        <p:spPr>
          <a:xfrm>
            <a:off x="6492240" y="3895344"/>
            <a:ext cx="5303520" cy="1097280"/>
          </a:xfrm>
          <a:prstGeom prst="roundRect">
            <a:avLst/>
          </a:prstGeom>
          <a:solidFill>
            <a:srgbClr val="EEF9EE"/>
          </a:solidFill>
          <a:ln w="25400">
            <a:solidFill>
              <a:srgbClr val="008800"/>
            </a:solidFill>
          </a:ln>
        </p:spPr>
        <p:style>
          <a:lnRef idx="1">
            <a:schemeClr val="accent1"/>
          </a:lnRef>
          <a:fillRef idx="3">
            <a:schemeClr val="accent1"/>
          </a:fillRef>
          <a:effectRef idx="2">
            <a:schemeClr val="accent1"/>
          </a:effectRef>
          <a:fontRef idx="minor">
            <a:schemeClr val="lt1"/>
          </a:fontRef>
        </p:style>
        <p:txBody>
          <a:bodyPr wrap="square" lIns="152400" tIns="76200" rIns="152400" bIns="76200" rtlCol="0" anchor="ctr"/>
          <a:lstStyle/>
          <a:p>
            <a:pPr algn="l">
              <a:defRPr sz="1400" b="1">
                <a:solidFill>
                  <a:srgbClr val="008800"/>
                </a:solidFill>
              </a:defRPr>
            </a:pPr>
            <a:r>
              <a:t>LOW</a:t>
            </a:r>
          </a:p>
          <a:p>
            <a:pPr algn="l">
              <a:defRPr sz="1100">
                <a:solidFill>
                  <a:srgbClr val="222222"/>
                </a:solidFill>
              </a:defRPr>
            </a:pPr>
            <a:r>
              <a:t>Minor missing fields</a:t>
            </a:r>
            <a:br/>
            <a:r>
              <a:t>Routine verification pending</a:t>
            </a:r>
          </a:p>
        </p:txBody>
      </p:sp>
      <p:sp>
        <p:nvSpPr>
          <p:cNvPr id="17414" name="TextBox 17413"/>
          <p:cNvSpPr txBox="1"/>
          <p:nvPr/>
        </p:nvSpPr>
        <p:spPr>
          <a:xfrm>
            <a:off x="6492240" y="5157216"/>
            <a:ext cx="5303520" cy="411480"/>
          </a:xfrm>
          <a:prstGeom prst="rect">
            <a:avLst/>
          </a:prstGeom>
          <a:noFill/>
        </p:spPr>
        <p:txBody>
          <a:bodyPr wrap="none">
            <a:spAutoFit/>
          </a:bodyPr>
          <a:lstStyle/>
          <a:p>
            <a:pPr algn="ctr">
              <a:defRPr sz="1050" i="1">
                <a:solidFill>
                  <a:srgbClr val="555555"/>
                </a:solidFill>
              </a:defRPr>
            </a:pPr>
            <a:r>
              <a:t>Priority only orders the review queue. It never approves or rejects an application.</a:t>
            </a:r>
          </a:p>
        </p:txBody>
      </p:sp>
    </p:spTree>
    <p:extLst>
      <p:ext uri="{BB962C8B-B14F-4D97-AF65-F5344CB8AC3E}">
        <p14:creationId xmlns:p14="http://schemas.microsoft.com/office/powerpoint/2010/main" val="2997144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868680" y="1537722"/>
            <a:ext cx="4892040" cy="2918748"/>
          </a:xfrm>
          <a:prstGeom prst="rect">
            <a:avLst/>
          </a:prstGeom>
          <a:noFill/>
          <a:ln w="9525">
            <a:noFill/>
            <a:miter lim="800000"/>
            <a:headEnd/>
            <a:tailEnd/>
          </a:ln>
        </p:spPr>
        <p:txBody>
          <a:bodyPr wrap="square" lIns="50800" tIns="50800" rIns="50800" bIns="50800">
            <a:spAutoFit/>
          </a:bodyPr>
          <a:lstStyle/>
          <a:p>
            <a:r>
              <a:rPr lang="en-IN" sz="1450" b="1" dirty="0"/>
              <a:t>Evidence Base — What the Brief Establishes</a:t>
            </a:r>
          </a:p>
          <a:p>
            <a:r>
              <a:rPr lang="en-IN" sz="1150" b="0" dirty="0"/>
              <a:t>•  Manual checking of the volume and variety of applications and documents is time consuming</a:t>
            </a:r>
            <a:r>
              <a:rPr lang="en-IN" sz="1150" dirty="0"/>
              <a:t> </a:t>
            </a:r>
            <a:r>
              <a:rPr lang="en-IN" sz="1150" b="0" dirty="0"/>
              <a:t>missing or expired documents, inconsistencies and suspected alterations delay processing</a:t>
            </a:r>
          </a:p>
          <a:p>
            <a:r>
              <a:rPr lang="en-IN" sz="1050" b="0" dirty="0">
                <a:solidFill>
                  <a:srgbClr val="555555"/>
                </a:solidFill>
              </a:rPr>
              <a:t>   Source  SIH 2026 Problem Statement 26261 (AICTE, Ministry of Education)</a:t>
            </a:r>
          </a:p>
          <a:p>
            <a:r>
              <a:rPr lang="en-IN" sz="1150" b="0" dirty="0"/>
              <a:t>•  Records to validate against  affidavits, accreditation details, NOCs, previous EoA and approval status, approved intake, faculty records, deficiency status, TER payment status</a:t>
            </a:r>
          </a:p>
          <a:p>
            <a:r>
              <a:rPr lang="en-IN" sz="1050" b="0" dirty="0">
                <a:solidFill>
                  <a:srgbClr val="555555"/>
                </a:solidFill>
              </a:rPr>
              <a:t>   Source  SIH 2026 Problem Statement 26261</a:t>
            </a:r>
          </a:p>
          <a:p>
            <a:r>
              <a:rPr lang="en-IN" sz="1150" b="0" dirty="0"/>
              <a:t>•  Required safeguards  configurable rules, role based access, explainable evidence-linked flags, decision support only</a:t>
            </a:r>
          </a:p>
          <a:p>
            <a:r>
              <a:rPr lang="en-IN" sz="1050" b="0" dirty="0">
                <a:solidFill>
                  <a:srgbClr val="555555"/>
                </a:solidFill>
              </a:rPr>
              <a:t>   Source  SIH 2026 Problem Statement 26261 (Essential Safeguards)</a:t>
            </a:r>
          </a:p>
          <a:p>
            <a:r>
              <a:rPr lang="en-IN" sz="1150" b="0" dirty="0"/>
              <a:t>•  Evaluation metrics named  extraction accuracy, validation accuracy, anomaly-detection performance, source-verification rate, verification time, alert timeliness, reduction in manual effort</a:t>
            </a:r>
          </a:p>
          <a:p>
            <a:r>
              <a:rPr lang="en-IN" sz="1050" b="0" dirty="0">
                <a:solidFill>
                  <a:srgbClr val="555555"/>
                </a:solidFill>
              </a:rPr>
              <a:t>   Source  SIH 2026 Problem Statement 26261 (Prototype Demonstration and Evaluation)</a:t>
            </a:r>
          </a:p>
        </p:txBody>
      </p:sp>
      <p:sp>
        <p:nvSpPr>
          <p:cNvPr id="6" name="Slide Number Placeholder 5"/>
          <p:cNvSpPr>
            <a:spLocks noGrp="1"/>
          </p:cNvSpPr>
          <p:nvPr>
            <p:ph type="sldNum" sz="quarter" idx="12"/>
          </p:nvPr>
        </p:nvSpPr>
        <p:spPr/>
        <p:txBody>
          <a:bodyPr wrap="square"/>
          <a:lstStyle/>
          <a:p>
            <a:r>
              <a:rPr lang="en-IN" sz="1000"/>
              <a:t>8</a:t>
            </a: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adeGothic"/>
                <a:ea typeface="+mn-ea"/>
                <a:cs typeface="+mn-cs"/>
              </a:rPr>
              <a:t>@SIH Idea submission</a:t>
            </a: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rtlCol="0" anchor="ctr"/>
          <a:lstStyle/>
          <a:p>
            <a:r>
              <a:rPr lang="en-IN" altLang="en-US" sz="800" b="1" dirty="0"/>
              <a:t>Conquerors</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4" name="Rectangle 13">
            <a:extLst>
              <a:ext uri="{FF2B5EF4-FFF2-40B4-BE49-F238E27FC236}">
                <a16:creationId xmlns:a16="http://schemas.microsoft.com/office/drawing/2014/main" id="{73F6E039-3A1A-E3F4-87C4-F0A91A3321E0}"/>
              </a:ext>
            </a:extLst>
          </p:cNvPr>
          <p:cNvSpPr/>
          <p:nvPr/>
        </p:nvSpPr>
        <p:spPr>
          <a:xfrm>
            <a:off x="774700" y="1501927"/>
            <a:ext cx="5086604" cy="3143225"/>
          </a:xfrm>
          <a:prstGeom prst="rect">
            <a:avLst/>
          </a:prstGeom>
          <a:no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2E53EB-224A-7AD0-8C04-625C0E31A354}"/>
              </a:ext>
            </a:extLst>
          </p:cNvPr>
          <p:cNvSpPr/>
          <p:nvPr/>
        </p:nvSpPr>
        <p:spPr>
          <a:xfrm>
            <a:off x="6250200" y="1501927"/>
            <a:ext cx="5332200" cy="3143225"/>
          </a:xfrm>
          <a:prstGeom prst="rect">
            <a:avLst/>
          </a:prstGeom>
          <a:no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57BC863-A06C-2783-AAB3-543875FFA4EF}"/>
              </a:ext>
            </a:extLst>
          </p:cNvPr>
          <p:cNvSpPr txBox="1"/>
          <p:nvPr/>
        </p:nvSpPr>
        <p:spPr>
          <a:xfrm>
            <a:off x="6344296" y="1589574"/>
            <a:ext cx="4786608" cy="1243930"/>
          </a:xfrm>
          <a:prstGeom prst="rect">
            <a:avLst/>
          </a:prstGeom>
          <a:noFill/>
        </p:spPr>
        <p:txBody>
          <a:bodyPr wrap="square" lIns="76200" tIns="50800" rIns="76200">
            <a:spAutoFit/>
          </a:bodyPr>
          <a:lstStyle/>
          <a:p>
            <a:r>
              <a:rPr lang="en-IN" sz="1450" b="1" dirty="0"/>
              <a:t>References</a:t>
            </a:r>
          </a:p>
          <a:p>
            <a:r>
              <a:rPr lang="en-IN" sz="1200" b="0" dirty="0"/>
              <a:t>1.  SIH 2026 Problem Statement 26261  AI-Powered Application Validation, Document Authentication and Regulatory Compliance Verification (AICTE, Ministry of Education) — sih.gov.in</a:t>
            </a:r>
          </a:p>
          <a:p>
            <a:r>
              <a:rPr lang="en-IN" sz="1200" b="0" dirty="0"/>
              <a:t>2.  AICTE Approval Process Handbook (edition in force</a:t>
            </a:r>
            <a:r>
              <a:rPr lang="en-IN" sz="1200" dirty="0"/>
              <a:t>, </a:t>
            </a:r>
            <a:r>
              <a:rPr lang="en-IN" sz="1200" b="0" dirty="0"/>
              <a:t>confirm the year) — aicte-india.org</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8492</TotalTime>
  <Words>1785</Words>
  <Application>Microsoft Office PowerPoint</Application>
  <PresentationFormat>Widescreen</PresentationFormat>
  <Paragraphs>154</Paragraphs>
  <Slides>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ＭＳ Ｐゴシック</vt:lpstr>
      <vt:lpstr>Arial</vt:lpstr>
      <vt:lpstr>Calibri</vt:lpstr>
      <vt:lpstr>Garamond</vt:lpstr>
      <vt:lpstr>Times New Roman</vt:lpstr>
      <vt:lpstr>TradeGothic</vt:lpstr>
      <vt:lpstr>Office Theme</vt:lpstr>
      <vt:lpstr>SMART INDIA HACKATHON 2026</vt:lpstr>
      <vt:lpstr>PROBLEM STATEMENT</vt:lpstr>
      <vt:lpstr> PROPOSED SOLUTION</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Prathmesh Gawade</cp:lastModifiedBy>
  <cp:revision>203</cp:revision>
  <dcterms:created xsi:type="dcterms:W3CDTF">2013-12-12T18:46:50Z</dcterms:created>
  <dcterms:modified xsi:type="dcterms:W3CDTF">2026-10-28T05:58:43Z</dcterms:modified>
  <cp:category/>
</cp:coreProperties>
</file>